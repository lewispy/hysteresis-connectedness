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ck Onodje" userId="efc6f5a0ba18fa82" providerId="LiveId" clId="{0FFC3F69-C15B-4CD5-804E-D4D7BF5D5726}"/>
    <pc:docChg chg="modSld">
      <pc:chgData name="Patrick Onodje" userId="efc6f5a0ba18fa82" providerId="LiveId" clId="{0FFC3F69-C15B-4CD5-804E-D4D7BF5D5726}" dt="2026-06-21T21:50:01.498" v="14" actId="20577"/>
      <pc:docMkLst>
        <pc:docMk/>
      </pc:docMkLst>
      <pc:sldChg chg="modSp mod">
        <pc:chgData name="Patrick Onodje" userId="efc6f5a0ba18fa82" providerId="LiveId" clId="{0FFC3F69-C15B-4CD5-804E-D4D7BF5D5726}" dt="2026-06-21T21:50:01.498" v="14" actId="20577"/>
        <pc:sldMkLst>
          <pc:docMk/>
          <pc:sldMk cId="0" sldId="256"/>
        </pc:sldMkLst>
        <pc:spChg chg="mod">
          <ac:chgData name="Patrick Onodje" userId="efc6f5a0ba18fa82" providerId="LiveId" clId="{0FFC3F69-C15B-4CD5-804E-D4D7BF5D5726}" dt="2026-06-21T21:50:01.498" v="14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Patrick Onodje" userId="efc6f5a0ba18fa82" providerId="LiveId" clId="{0FFC3F69-C15B-4CD5-804E-D4D7BF5D5726}" dt="2026-06-21T21:47:45.743" v="2" actId="14100"/>
        <pc:sldMkLst>
          <pc:docMk/>
          <pc:sldMk cId="0" sldId="263"/>
        </pc:sldMkLst>
        <pc:spChg chg="mod">
          <ac:chgData name="Patrick Onodje" userId="efc6f5a0ba18fa82" providerId="LiveId" clId="{0FFC3F69-C15B-4CD5-804E-D4D7BF5D5726}" dt="2026-06-21T21:47:29.847" v="0" actId="14100"/>
          <ac:spMkLst>
            <pc:docMk/>
            <pc:sldMk cId="0" sldId="263"/>
            <ac:spMk id="4" creationId="{00000000-0000-0000-0000-000000000000}"/>
          </ac:spMkLst>
        </pc:spChg>
        <pc:spChg chg="mod">
          <ac:chgData name="Patrick Onodje" userId="efc6f5a0ba18fa82" providerId="LiveId" clId="{0FFC3F69-C15B-4CD5-804E-D4D7BF5D5726}" dt="2026-06-21T21:47:36.536" v="1" actId="14100"/>
          <ac:spMkLst>
            <pc:docMk/>
            <pc:sldMk cId="0" sldId="263"/>
            <ac:spMk id="10" creationId="{00000000-0000-0000-0000-000000000000}"/>
          </ac:spMkLst>
        </pc:spChg>
        <pc:spChg chg="mod">
          <ac:chgData name="Patrick Onodje" userId="efc6f5a0ba18fa82" providerId="LiveId" clId="{0FFC3F69-C15B-4CD5-804E-D4D7BF5D5726}" dt="2026-06-21T21:47:45.743" v="2" actId="14100"/>
          <ac:spMkLst>
            <pc:docMk/>
            <pc:sldMk cId="0" sldId="263"/>
            <ac:spMk id="16" creationId="{00000000-0000-0000-0000-000000000000}"/>
          </ac:spMkLst>
        </pc:spChg>
      </pc:sldChg>
      <pc:sldChg chg="modSp mod">
        <pc:chgData name="Patrick Onodje" userId="efc6f5a0ba18fa82" providerId="LiveId" clId="{0FFC3F69-C15B-4CD5-804E-D4D7BF5D5726}" dt="2026-06-21T21:49:26.349" v="3" actId="20577"/>
        <pc:sldMkLst>
          <pc:docMk/>
          <pc:sldMk cId="0" sldId="271"/>
        </pc:sldMkLst>
        <pc:spChg chg="mod">
          <ac:chgData name="Patrick Onodje" userId="efc6f5a0ba18fa82" providerId="LiveId" clId="{0FFC3F69-C15B-4CD5-804E-D4D7BF5D5726}" dt="2026-06-21T21:49:26.349" v="3" actId="20577"/>
          <ac:spMkLst>
            <pc:docMk/>
            <pc:sldMk cId="0" sldId="271"/>
            <ac:spMk id="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4E79"/>
                </a:solidFill>
                <a:latin typeface="Arial"/>
              </a:defRPr>
            </a:pPr>
            <a:r>
              <a:rPr lang="tr-TR" sz="1300" b="0" i="0" u="none" strike="noStrike">
                <a:solidFill>
                  <a:srgbClr val="1F4E79"/>
                </a:solidFill>
                <a:latin typeface="Arial"/>
              </a:rPr>
              <a:t>Total Connectedness Index (TCI), %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TCI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F4E79"/>
                    </a:solidFill>
                    <a:latin typeface="Arial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Increasing</c:v>
                </c:pt>
                <c:pt idx="1">
                  <c:v>Stable</c:v>
                </c:pt>
                <c:pt idx="2">
                  <c:v>Decreasing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67.09</c:v>
                </c:pt>
                <c:pt idx="1">
                  <c:v>39.61</c:v>
                </c:pt>
                <c:pt idx="2">
                  <c:v>66.760000000000005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AF-4A9B-91E4-A4247E6AF6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4E79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F4E79"/>
                </a:solidFill>
                <a:latin typeface="Arial"/>
              </a:rPr>
              <a:t>Gross transmission TO others, by regime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Increasing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Bitcoin</c:v>
                </c:pt>
                <c:pt idx="1">
                  <c:v>Gold</c:v>
                </c:pt>
                <c:pt idx="2">
                  <c:v>Oil</c:v>
                </c:pt>
                <c:pt idx="3">
                  <c:v>S&amp;P 500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61.2</c:v>
                </c:pt>
                <c:pt idx="1">
                  <c:v>67.8</c:v>
                </c:pt>
                <c:pt idx="2">
                  <c:v>59.1</c:v>
                </c:pt>
                <c:pt idx="3">
                  <c:v>80.2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BE-47AD-BAD2-8E0B3FE8773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Stable</c:v>
                </c:pt>
              </c:strCache>
            </c:strRef>
          </c:tx>
          <c:spPr>
            <a:solidFill>
              <a:srgbClr val="777777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Bitcoin</c:v>
                </c:pt>
                <c:pt idx="1">
                  <c:v>Gold</c:v>
                </c:pt>
                <c:pt idx="2">
                  <c:v>Oil</c:v>
                </c:pt>
                <c:pt idx="3">
                  <c:v>S&amp;P 500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34.9</c:v>
                </c:pt>
                <c:pt idx="1">
                  <c:v>48.8</c:v>
                </c:pt>
                <c:pt idx="2">
                  <c:v>31.3</c:v>
                </c:pt>
                <c:pt idx="3">
                  <c:v>43.5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BE-47AD-BAD2-8E0B3FE8773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Decreasing</c:v>
                </c:pt>
              </c:strCache>
            </c:strRef>
          </c:tx>
          <c:spPr>
            <a:solidFill>
              <a:srgbClr val="C75B5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Bitcoin</c:v>
                </c:pt>
                <c:pt idx="1">
                  <c:v>Gold</c:v>
                </c:pt>
                <c:pt idx="2">
                  <c:v>Oil</c:v>
                </c:pt>
                <c:pt idx="3">
                  <c:v>S&amp;P 500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64.099999999999994</c:v>
                </c:pt>
                <c:pt idx="1">
                  <c:v>64.099999999999994</c:v>
                </c:pt>
                <c:pt idx="2">
                  <c:v>55.5</c:v>
                </c:pt>
                <c:pt idx="3">
                  <c:v>83.4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DBE-47AD-BAD2-8E0B3FE877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4E79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F4E79"/>
                </a:solidFill>
                <a:latin typeface="Arial"/>
              </a:rPr>
              <a:t>Gold — Net total connectedness, by regime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Gold NET</c:v>
                </c:pt>
              </c:strCache>
            </c:strRef>
          </c:tx>
          <c:spPr>
            <a:solidFill>
              <a:srgbClr val="C787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F4E79"/>
                    </a:solidFill>
                    <a:latin typeface="Arial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Increasing</c:v>
                </c:pt>
                <c:pt idx="1">
                  <c:v>Stable</c:v>
                </c:pt>
                <c:pt idx="2">
                  <c:v>Decreasing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-0.02</c:v>
                </c:pt>
                <c:pt idx="1">
                  <c:v>28.27</c:v>
                </c:pt>
                <c:pt idx="2">
                  <c:v>-4.7699999999999996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28-4429-9493-A4E3AE0246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  <c:min val="-1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4E79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F4E79"/>
                </a:solidFill>
                <a:latin typeface="Arial"/>
              </a:rPr>
              <a:t>Net connectedness — Bitcoin vs. Oil (NET)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Bitcoin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Increasing</c:v>
                </c:pt>
                <c:pt idx="1">
                  <c:v>Stable</c:v>
                </c:pt>
                <c:pt idx="2">
                  <c:v>Decreasing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-7.9</c:v>
                </c:pt>
                <c:pt idx="1">
                  <c:v>-12.45</c:v>
                </c:pt>
                <c:pt idx="2">
                  <c:v>-1.62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DB-4AC0-B154-01F486E6E8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Oil</c:v>
                </c:pt>
              </c:strCache>
            </c:strRef>
          </c:tx>
          <c:spPr>
            <a:solidFill>
              <a:srgbClr val="C7873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Increasing</c:v>
                </c:pt>
                <c:pt idx="1">
                  <c:v>Stable</c:v>
                </c:pt>
                <c:pt idx="2">
                  <c:v>Decreasing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-7.63</c:v>
                </c:pt>
                <c:pt idx="1">
                  <c:v>-11.7</c:v>
                </c:pt>
                <c:pt idx="2">
                  <c:v>-13.62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DB-4AC0-B154-01F486E6E8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"/>
          <c:min val="-18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4E79"/>
                </a:solidFill>
                <a:latin typeface="Arial"/>
              </a:defRPr>
            </a:pPr>
            <a:r>
              <a:rPr lang="it-IT" sz="1300" b="0" i="0" u="none" strike="noStrike">
                <a:solidFill>
                  <a:srgbClr val="1F4E79"/>
                </a:solidFill>
                <a:latin typeface="Arial"/>
              </a:rPr>
              <a:t>TCI under alternative quantile cutoffs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Increasing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30/70 (baseline)</c:v>
                </c:pt>
                <c:pt idx="1">
                  <c:v>25/75</c:v>
                </c:pt>
                <c:pt idx="2">
                  <c:v>20/80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67.09</c:v>
                </c:pt>
                <c:pt idx="1">
                  <c:v>67.38</c:v>
                </c:pt>
                <c:pt idx="2">
                  <c:v>66.39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8F-4A12-8AA3-0E6A7E33B9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Stable</c:v>
                </c:pt>
              </c:strCache>
            </c:strRef>
          </c:tx>
          <c:spPr>
            <a:solidFill>
              <a:srgbClr val="777777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30/70 (baseline)</c:v>
                </c:pt>
                <c:pt idx="1">
                  <c:v>25/75</c:v>
                </c:pt>
                <c:pt idx="2">
                  <c:v>20/80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39.61</c:v>
                </c:pt>
                <c:pt idx="1">
                  <c:v>33.53</c:v>
                </c:pt>
                <c:pt idx="2">
                  <c:v>24.5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8F-4A12-8AA3-0E6A7E33B91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Decreasing</c:v>
                </c:pt>
              </c:strCache>
            </c:strRef>
          </c:tx>
          <c:spPr>
            <a:solidFill>
              <a:srgbClr val="C75B5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30/70 (baseline)</c:v>
                </c:pt>
                <c:pt idx="1">
                  <c:v>25/75</c:v>
                </c:pt>
                <c:pt idx="2">
                  <c:v>20/80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66.760000000000005</c:v>
                </c:pt>
                <c:pt idx="1">
                  <c:v>67.06</c:v>
                </c:pt>
                <c:pt idx="2">
                  <c:v>66.400000000000006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8F-4A12-8AA3-0E6A7E33B9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999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a one-sentence positioning: this paper documents hysteresis — the path-dependence of cross-market spillovers — among four major assets, and proposes a new multi-threshold connectedness framework to detect it. I'll spend ~15 minutes on the motivation, method, and four key empirical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puzzle: in finance, we usually model spillovers as time-varying but mean-reverting. If hysteresis is present, that assumption is wrong, and risk management built on stable-period covariances will systematically underprice tail exposure. I anchor on Verheyen's hysteresis decomposition and the Diebold–Yilmaz spillover literature.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quantile approaches gave us asymmetry but stopped short of two things: (1) aggregating across recurring tail episodes — investors care about cumulated large changes, not isolated quantile bins; (2) a clean test that connectedness in tail regimes is statistically different from stable regimes. That's the gap this paper fills.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implications, both testable. First, average connectedness in tail regimes should be statistically different from stable connectedness. Second, the increasing and decreasing regimes need not mirror each other — that asymmetry is itself evidence of hysteresis.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contributions. The first two are conceptual — aggregation and interpretability. The third is methodological — embedding a formal hysteresis test inside the connectedness framework. The QVAR literature gave us the asymmetry; this paper gives us the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Daily log returns from investing.com, aligned to common trading days. Highly non-normal — heavy tails, especially Bitcoin and oil. These tail characteristics are exactly why a quantile-based regime partition is the right tool rather than a normal-distribution assumption.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regimes — increasing, stable, decreasing — defined by 30/70 quantile thresholds. The key insight: instead of a single quantile slice, I cumulate all changes above k1 (or below k2) into a partial-sum series. This lets me estimate a separate TVP-VAR on each regime and compare connectedness.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TVP-VAR machinery — Antonakakis–Chatziantoniou–Gabauer style — applied separately on each regime. The hysteresis test is the new bit: I compare regime-mean connectedness via t-tests. If both tail regimes differ significantly from the stable regime, that's evidence of hysteresis.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headline finding. TCI in turbulent regimes is about 67% — nearly two-thirds of forecast error variance is from cross-asset transmission. In stable times it falls to 40%. That ~27-point gap is the empirical signature of hysteresis at the system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S&amp;P 500 is the only asset that is a net transmitter in both increasing and decreasing regimes. Its TO column dominates — 80% in increasing, 83% in decreasing. This confirms its role as the systemic centre of global financial contagion across regimes, consistent with Kang et al. (2019) and Yousaf et al. (2023).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Gold's behaviour is the most surprising result. The standard intuition is that gold absorbs flight-to-safety flows in turmoil and so should be a net receiver under stress. The data confirm that. But the flip-side is underappreciated: in stable periods, gold is the largest net transmitter (+28), likely reflecting its influence on hedging-portfolio rebalancing. So allocations relying on gold for crisis protection are correctly placed, but allocations relying on gold for diversification in calm periods may be picking up unintended exposure.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key takeaways. Bitcoin's persistent net-receiver position together with intensifying gross connectedness in tail regimes is the empirical fingerprint of an asset becoming more financialised — it absorbs shocks rather than being insulated from them. Oil is the surprise — despite the popular view of oil as a shock source for equities and macro, here it consistently absorbs shocks from the other three. The COVID demand collapse in 2020 is part of this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Second-order test. For each connectedness measure, I run two t-tests — increasing vs. stable, and decreasing vs. stable. If both are significant at 5%, hysteresis is confirmed. Across the full table (in the paper), the rule confirms hysteresis for nearly every measure. The exceptions — oil-to-bitcoin pairwise and S&amp;P-to-bitcoin pairwise — are isolated, not patterned.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Sensitivity check. The qualitative story doesn't change. The stable-regime TCI falls under tighter cutoffs because there are fewer observations away from the centre — so the contrast between tail and stable becomes sharper, not weaker. The hysteresis result strengthens under more extreme cutoffs.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practical implications. The unifying message: connectedness is regime-dependent and asymmetric, so risk management must be regime-aware. Standard portfolio construction that uses historical covariances pools all three regimes and understates tail exposure.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on the four takeaways. Leave this slide up through Q&amp;A. Open the floor: 'I'll stop there — questions or feedback?'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Presentation  ·  Finance Research Open  ·  2 (2026) 100091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 between Bitcoin, Gold, Oil,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S&amp;P 500 Index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a multi-threshold connectedness approach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520440"/>
            <a:ext cx="1645920" cy="3200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Patrick Onodje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Economics, University of Ibadan, Nigeria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251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patrickonodje@gmail.com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Cross-market spillovers shift during crises and may not symmetrically revert when calm returns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global shocks </a:t>
            </a:r>
            <a:r>
              <a:rPr lang="en-US" sz="1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(COVID-19, geopolitical tensions, monetary policy reversals) raise concern not just about spillovers but their </a:t>
            </a:r>
            <a:r>
              <a:rPr lang="en-US" sz="18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and persistence.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 </a:t>
            </a:r>
            <a:r>
              <a:rPr lang="en-US" sz="1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macro–finance: shocks leave structural footprints that do not unwind once the cause dissipates (Blanchard &amp; Summers, 1986; Baldwin, 1990; Verheyen, 2013).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channel: </a:t>
            </a:r>
            <a:r>
              <a:rPr lang="en-US" sz="1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overreaction and flight-to-safety create long-lasting changes in market linkages (Barberis et al., 1998; Baur &amp; Lucey, 2010).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most spillover studies assume symmetric reversion — a strong restriction the data may not support.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491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Blanchard &amp; Summers (1986); Baldwin (1990); Verheyen (2013); Baur &amp; Lucey (2010)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508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connectedness methods capture asymmetry but cannot formally test for hysteresis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9319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Diebold &amp; Yilmaz </a:t>
            </a: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(2009, 2012, 2014): spillover index via GFEVD; rolling-window dynamics.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Antonakakis et al. </a:t>
            </a: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(2020): TVP-VAR removes the arbitrary rolling window.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Chatziantoniou et al. </a:t>
            </a: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(2021): QVAR connectedness across quantiles.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Gabauer &amp; Stenfors </a:t>
            </a: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(2024): quantile-on-quantile pairwise measures.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6344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663440" y="1554480"/>
            <a:ext cx="4023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Quantile-based methods examine spillovers at quantiles but </a:t>
            </a:r>
            <a:r>
              <a:rPr lang="en-US" sz="15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aggregate large vs. moderate change episodes.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computation is often dropped for tractability.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test for hysteresis is built in.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Rolling-window QVAR results can be unstable.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5491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Diebold &amp; Yilmaz (2009, 2012, 2014); Antonakakis et al. (2020); Chatziantoniou et al. (2021); Gabauer &amp; Stenfors (2024)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&amp; gap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48508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paper asks whether hysteresis characterises spillovers among Bitcoin, Gold, Oil, and the S&amp;P 500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7498080" cy="1691640"/>
          </a:xfrm>
          <a:prstGeom prst="roundRect">
            <a:avLst>
              <a:gd name="adj" fmla="val 5405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05840" y="1417320"/>
            <a:ext cx="7132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cross-asset connectedness in tail regimes differ </a:t>
            </a:r>
            <a:r>
              <a:rPr lang="en-US" sz="2000" b="1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</a:t>
            </a:r>
            <a:r>
              <a:rPr lang="en-US" sz="20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connectedness in stable regimes, and does it </a:t>
            </a:r>
            <a:r>
              <a:rPr lang="en-US" sz="2000" b="1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revert symmetrically </a:t>
            </a:r>
            <a:r>
              <a:rPr lang="en-US" sz="20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turbulence eases?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testable implications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493008"/>
            <a:ext cx="8138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Connectedness in increasing/decreasing regimes 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differs significantly from the stable regime.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and decreasing regimes 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not behave symmetrically — directional dominance can flip.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0" y="48508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Contribution: a multi-threshold connectedness framework that formally tests for hysteresis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06908" y="132588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F4F8F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4068" y="1463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4068" y="1892808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cumulative large changes from moderate changes — directly aligned to how investors react to recurring panic episodes.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23260" y="132588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F4F8F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360420" y="1463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360420" y="1892808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economically meaningful regimes (increasing / stable / decreasing) replace dozens of quantile slices.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9612" y="132588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F4F8F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176772" y="1463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test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76772" y="1892808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 is identified via t-tests of regime-mean connectedness — visual inspection plus second-order significance.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QVAR-based approaches: </a:t>
            </a: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computational cost, pairwise measures retained, and a built-in hysteresis test.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45491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Verheyen (2013); extends Antonakakis et al. (2020) and Chatziantoniou et al. (2021)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48508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2,360 aligned daily observations on four assets from January 2015 to May 2024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8288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31520" y="1536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(BTC)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18288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31520" y="2039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(XAU)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18288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31520" y="25420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WTI Crude Oil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18288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31520" y="30449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Index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11887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log-return characteristics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536192"/>
          <a:ext cx="4023360" cy="230428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−2.578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−1.688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Kurtosis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(30%)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(70%)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663440" y="4023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rows: 30%/70% quantile thresholds used to define regimes.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4069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series: stationary (ADF), non-normal (Jarque–Bera), negatively skewed, with serial dependence.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45491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investing.com; 04 Jan 2015 – 21 May 2024; common trading days only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772400" y="48508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are partitioned into three regimes using 30th and 70th percentile thresholds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931920" cy="1554480"/>
          </a:xfrm>
          <a:prstGeom prst="roundRect">
            <a:avLst>
              <a:gd name="adj" fmla="val 2941"/>
            </a:avLst>
          </a:prstGeom>
          <a:solidFill>
            <a:srgbClr val="F4F8F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1133856" cy="1463040"/>
          </a:xfrm>
          <a:prstGeom prst="rect">
            <a:avLst/>
          </a:prstGeom>
          <a:solidFill>
            <a:srgbClr val="C75B5B">
              <a:alpha val="40000"/>
            </a:srgbClr>
          </a:solidFill>
          <a:ln w="12700">
            <a:solidFill>
              <a:srgbClr val="C75B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819656" y="1874520"/>
            <a:ext cx="1572768" cy="1463040"/>
          </a:xfrm>
          <a:prstGeom prst="rect">
            <a:avLst/>
          </a:prstGeom>
          <a:solidFill>
            <a:srgbClr val="777777">
              <a:alpha val="35000"/>
            </a:srgbClr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392424" y="1874520"/>
            <a:ext cx="1133856" cy="1463040"/>
          </a:xfrm>
          <a:prstGeom prst="rect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316736" y="14630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k₂ (30%)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9504" y="14630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k₁ (70%)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19656" y="1737360"/>
            <a:ext cx="0" cy="1691640"/>
          </a:xfrm>
          <a:prstGeom prst="line">
            <a:avLst/>
          </a:prstGeom>
          <a:noFill/>
          <a:ln w="12700">
            <a:solidFill>
              <a:srgbClr val="1F4E79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392424" y="1737360"/>
            <a:ext cx="0" cy="1691640"/>
          </a:xfrm>
          <a:prstGeom prst="line">
            <a:avLst/>
          </a:prstGeom>
          <a:noFill/>
          <a:ln w="12700">
            <a:solidFill>
              <a:srgbClr val="1F4E79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85800" y="347472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7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7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 obs.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19656" y="34747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obs.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92424" y="347472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 obs.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11430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partial sums (Verheyen, 2013)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63440" y="150876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yₜ⁺ = Σ Δyᵢ · I{Δyᵢ &gt; k₁}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yₜ± = Σ Δyᵢ · I{k₂ ≤ Δyᵢ ≤ k₁}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7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yₜ⁻ = Σ Δyᵢ · I{Δyᵢ &lt; k₂}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2788920"/>
            <a:ext cx="4023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30/70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10/90)?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recurring large changes — not isolated outliers.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enough mass in tail regimes (~708 obs each) to estimate TVP-VAR stably.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5491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Verheyen (2013); threshold definition extended from trade-flow hysteresis to financial connectedness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· Decomposition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0" y="48508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Regime-specific connectedness is estimated via TVP-VAR with generalized FEVD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34340" y="1325879"/>
            <a:ext cx="2697480" cy="1645917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98932" y="1463040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9893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65860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TVP-VAR per regime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7220" y="20391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Stochastic-volatility TVP-VAR fit separately on yₜ⁺, yₜ±, yₜ⁻ using Kalman filter with decay factors P₁ = 0.99, P₂ = 0.96.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36392" y="2034540"/>
            <a:ext cx="82296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223260" y="1325880"/>
            <a:ext cx="2697480" cy="16276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387852" y="1463040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38785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54780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GFEVD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06140" y="20391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Wold-representation gives generalized impulse responses; FEVD shares are order-invariant and row-normalised to 100%.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25312" y="2034540"/>
            <a:ext cx="82296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012180" y="1325879"/>
            <a:ext cx="2697480" cy="1627607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176772" y="1463040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17677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43700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Connectedness indices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95060" y="20391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TCI, TO, FROM, NET, and pairwise NPDC computed per regime — directly comparable across regimes.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TVP-VAR?  </a:t>
            </a: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arbitrary rolling window → avoids data loss at regime extremes, robust to outliers, and works with limited time-series length per regime.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 test:  </a:t>
            </a: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t-tests of average connectedness — increasing vs. stable AND decreasing vs. stable. Both significant at 5% ⇒ hysteresis.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45491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Antonakakis et al. (2020); Diebold &amp; Yilmaz (2012, 2014); Pesaran &amp; Shin (1998)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· Estimation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48508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connectedness is markedly higher in tail regimes than in stable conditions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88720"/>
          <a:ext cx="484632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577840" y="11887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577840" y="1536192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Tail-regime TCI is </a:t>
            </a: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69% higher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stable-regime TCI.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regimes are roughly </a:t>
            </a: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in magnitude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(67.1 vs 66.8), but jointly very different from the stable centre.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Stable-regime trough: TCI &lt; 20 from Dec 2018 to Aug 2019 — diversification works best in calm.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5491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author's calculations; TVP-VAR with H = 10-step GFEVD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TCI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0" y="48508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S&amp;P 500 is the dominant shock transmitter across all regimes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88720"/>
          <a:ext cx="53035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1188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positions (NET)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536192"/>
          <a:ext cx="2743200" cy="155448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7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Bitcoin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7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7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7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7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7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−13.6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943600" y="3474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asset positive in both tail regimes.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45491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author's calculations. NET = TO – FROM. Positive ⇒ net transmitter.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S&amp;P 500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772400" y="48508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Gold's role reverses by regime — challenging the unconditional safe-haven 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88720"/>
          <a:ext cx="484632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577840" y="11887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577840" y="1536192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regime: </a:t>
            </a: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is a strong </a:t>
            </a:r>
            <a:r>
              <a:rPr lang="en-US" sz="1500" b="1" dirty="0">
                <a:solidFill>
                  <a:srgbClr val="C7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transmitter</a:t>
            </a: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(NET = +28).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regimes: </a:t>
            </a: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reverses — Gold becomes a </a:t>
            </a:r>
            <a:r>
              <a:rPr lang="en-US" sz="1500" b="1" dirty="0">
                <a:solidFill>
                  <a:srgbClr val="C7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receiver</a:t>
            </a: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shocks.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</a:t>
            </a: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safe-haven property is </a:t>
            </a:r>
            <a:r>
              <a:rPr lang="en-US" sz="15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unconditional.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5491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with Będowska-Sójka &amp; Kliber (2021); contrasts unconditional safe-haven view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Gold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0" y="48508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and Oil are persistent net shock receivers; Oil is the most vulnerable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88720"/>
          <a:ext cx="484632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577840" y="11887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receiver profiles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577840" y="1536192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 net receiver, but </a:t>
            </a:r>
            <a:r>
              <a:rPr lang="en-US" sz="14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so during turbulence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connectedness still intensifies, signalling </a:t>
            </a: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integration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mainstream finance.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C7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vulnerable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asset — NET worsens in decreasing regime (−13.6). Contrary to its conventional framing as a shock source.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5491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Guo (2024) on Bitcoin integration; contrasts Antonakakis et al. (2023) on Oil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BTC &amp; Oil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0" y="48508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t-tests confirm hysteresis across virtually all spillover dimensions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633472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Connectedness measure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Inc. vs. Stable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Dec. vs. Stable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Hysteresis?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connectedness (TCI)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78.41***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78.99***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Bitcoin — FROM others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48.29***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40.75***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— TO others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14.47***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12.18***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— FROM others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43.69***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53.00***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 — NET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18.30***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20.69***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— NET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−17.42***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−21.53***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 ↔ Gold pairwise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80.43***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83.43***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*** significant at 1%.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tail regimes differ significantly from the stable regime → hysteresis is confirmed for every selected measure shown.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5491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t-tests on regime-mean connectedness. Full table in Appendix.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Tests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0" y="48508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are robust to alternative threshold choices (25/75 and 20/80)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88720"/>
          <a:ext cx="566928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1188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309360" y="1536192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cutoffs tighten — fewer obs.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regimes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stay near 66–67.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regimes </a:t>
            </a:r>
            <a:r>
              <a:rPr lang="en-US" sz="14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widens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under more extreme tails → </a:t>
            </a: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 preserved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5491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sensitivity tables in Appendix A1–A2 of the paper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0" y="48508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benefits are regime-dependent; hedging must be state-aware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543050"/>
          </a:xfrm>
          <a:prstGeom prst="roundRect">
            <a:avLst>
              <a:gd name="adj" fmla="val 3556"/>
            </a:avLst>
          </a:prstGeom>
          <a:solidFill>
            <a:srgbClr val="F4F8F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diversification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6576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Cross-asset mixing protects less in stress — connectedness is roughly 70% higher in tail regimes than in calm.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543050"/>
          </a:xfrm>
          <a:prstGeom prst="roundRect">
            <a:avLst>
              <a:gd name="adj" fmla="val 3556"/>
            </a:avLst>
          </a:prstGeom>
          <a:solidFill>
            <a:srgbClr val="F4F8F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hedging design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36576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Allocations relying on Gold or Bitcoin for downside protection must be stress-tested — their roles flip with regime.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23210"/>
            <a:ext cx="4023360" cy="1543050"/>
          </a:xfrm>
          <a:prstGeom prst="roundRect">
            <a:avLst>
              <a:gd name="adj" fmla="val 3556"/>
            </a:avLst>
          </a:prstGeom>
          <a:solidFill>
            <a:srgbClr val="F4F8F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40080" y="296037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risk management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326130"/>
            <a:ext cx="36576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Connectedness does not revert mechanically after a shock — maintain elevated hedge ratios for some period after stress.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823210"/>
            <a:ext cx="4023360" cy="1543050"/>
          </a:xfrm>
          <a:prstGeom prst="roundRect">
            <a:avLst>
              <a:gd name="adj" fmla="val 3556"/>
            </a:avLst>
          </a:prstGeom>
          <a:solidFill>
            <a:srgbClr val="F4F8F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846320" y="296037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monitoring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3326130"/>
            <a:ext cx="36576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regime signals together with TCI as an early-warning input for rebalancing and scenario analysis.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48508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200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 is confirmed: 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tail-regime connectedness differs significantly from stable connectedness and does not revert symmetrically.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S&amp;P 500 is the systemic centre: 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net transmitter across every regime.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is conditional, not unconditional: 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transmitter in calm, receiver in stress — its safe-haven property is regime-contingent.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integrates, Oil absorbs: 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Bitcoin's spillover intensity rises in stress; Oil is the most vulnerable asset across all three regimes.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Patrick Onodje  ·  Dept. of Economics, University of Ibadan  ·  patrickonodje@gmail.com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Finance Research Open 2 (2026) 100091  ·  doi.org/10.1016/j.finr.2026.100091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Antonakakis, N., Chatziantoniou, I., &amp; Gabauer, D. (2020). Refined measures of dynamic connectedness based on time-varying parameter vector autoregressions. Journal of Risk and Financial Management, 13(4), 84.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Baldwin, R. (1990). Hysteresis in trade. Empirical Economics, 15(2), 127–142.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Baur, D. G., &amp; Lucey, B. M. (2010). Is gold a hedge or a safe haven? Financial Review, 45(2), 217–229.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Blanchard, O. J., &amp; Summers, L. H. (1986). Hysteresis and the European unemployment problem. NBER Macroeconomics Annual, 1, 15–78.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Chatziantoniou, I., Gabauer, D., &amp; Stenfors, A. (2021). Interest rate swaps and the transmission mechanism of monetary policy: A quantile connectedness approach. Economics Letters, 204, 109891.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Diebold, F. X., &amp; Yilmaz, K. (2012). Better to give than to receive: Predictive directional measurement of volatility spillovers. International Journal of Forecasting, 28(1), 57–66.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Diebold, F. X., &amp; Yilmaz, K. (2014). On the network topology of variance decompositions. Journal of Econometrics, 182(1), 119–134.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Gabauer, D., &amp; Stenfors, A. (2024). Quantile-on-quantile connectedness measures: Evidence from the US treasury yield curve. Finance Research Letters, 60, 104852.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Guo, X. (2024). Exploring Bitcoin dynamics against the backdrop of COVID-19. Financial Innovation, 10(1).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Pesaran, H. H., &amp; Shin, Y. (1998). Generalized impulse response analysis in linear multivariate models. Economics Letters, 58(1), 17–29.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Verheyen, F. (2013). Exchange rate nonlinearities in EMU exports to the US. Economic Modelling, 32(1), 66–76.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Yousaf, I., Jareño, F., &amp; Tolentino, M. (2023). Connectedness between Defi assets and equity markets during COVID-19. Technological Forecasting and Social Change, 187, 122174.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8508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Full connectedness table by regime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Connectedness contribution matrix and net positions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234440"/>
            <a:ext cx="280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regime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63624"/>
          <a:ext cx="2779776" cy="1996440"/>
        </p:xfrm>
        <a:graphic>
          <a:graphicData uri="http://schemas.openxmlformats.org/drawingml/2006/table">
            <a:tbl>
              <a:tblPr/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7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7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7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TCI 67.1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169920" y="1234440"/>
            <a:ext cx="280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regime</a:t>
            </a:r>
            <a:endParaRPr lang="en-US" sz="12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69920" y="1563624"/>
          <a:ext cx="2779776" cy="1996440"/>
        </p:xfrm>
        <a:graphic>
          <a:graphicData uri="http://schemas.openxmlformats.org/drawingml/2006/table">
            <a:tbl>
              <a:tblPr/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7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7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7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TCI 39.6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065520" y="1234440"/>
            <a:ext cx="280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7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Decreasing regime</a:t>
            </a:r>
            <a:endParaRPr lang="en-US" sz="1200" dirty="0"/>
          </a:p>
        </p:txBody>
      </p:sp>
      <p:graphicFrame>
        <p:nvGraphicFramePr>
          <p:cNvPr id="5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65520" y="1563624"/>
          <a:ext cx="2779776" cy="1996440"/>
        </p:xfrm>
        <a:graphic>
          <a:graphicData uri="http://schemas.openxmlformats.org/drawingml/2006/table">
            <a:tbl>
              <a:tblPr/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7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7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7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−13.6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C7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TCI 66.8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(i,j): % of i's forecast error variance explained by j's shock. Diagonal = own share.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7772400" y="48508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Sensitivity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 classification survives under alternative cutoffs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633472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30/70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25/75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20/80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Hysteresis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Hysteresis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Hysteresis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others (all assets)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others (all assets)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total — Bitcoin, Oil, S&amp;P 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total — Gold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Pairwise gross (all 6 pairs)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pairwise (most pairs)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(4/6)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(3/6)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(6/6)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= hysteresis confirmed (both tail-vs-stable t-tests significant at 5%).  NS = not significant.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net-position sensitivity for Gold reflects fewer observations under tighter cutoffs — a known property of net measures, not a failure of the core hysteresis result.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0" y="48508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3356</Words>
  <Application>Microsoft Office PowerPoint</Application>
  <PresentationFormat>On-screen Show (16:9)</PresentationFormat>
  <Paragraphs>465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Hysteresis between Bitcoin, Gold, Oil, and the S&amp;P 500</dc:title>
  <dc:subject>PptxGenJS Presentation</dc:subject>
  <dc:creator>Patrick Onodje</dc:creator>
  <cp:lastModifiedBy>Patrick Onodje</cp:lastModifiedBy>
  <cp:revision>1</cp:revision>
  <dcterms:created xsi:type="dcterms:W3CDTF">2026-06-21T21:01:40Z</dcterms:created>
  <dcterms:modified xsi:type="dcterms:W3CDTF">2026-06-21T21:50:08Z</dcterms:modified>
</cp:coreProperties>
</file>